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8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83A"/>
                </a:solidFill>
                <a:latin typeface="Calibri"/>
              </a:rPr>
              <a:t>Estimated vs actual effort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(h)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Sprint 1</c:v>
                  </c:pt>
                  <c:pt idx="1">
                    <c:v>Sprint 2</c:v>
                  </c:pt>
                  <c:pt idx="2">
                    <c:v>Sprint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114</c:v>
                </c:pt>
                <c:pt idx="2">
                  <c:v>124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(h)</c:v>
                </c:pt>
              </c:strCache>
            </c:strRef>
          </c:tx>
          <c:spPr>
            <a:solidFill>
              <a:srgbClr val="9FC7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Sprint 1</c:v>
                  </c:pt>
                  <c:pt idx="1">
                    <c:v>Sprint 2</c:v>
                  </c:pt>
                  <c:pt idx="2">
                    <c:v>Sprint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103</c:v>
                </c:pt>
                <c:pt idx="1">
                  <c:v>121</c:v>
                </c:pt>
                <c:pt idx="2">
                  <c:v>127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1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E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1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8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83A"/>
                </a:solidFill>
                <a:latin typeface="Calibri"/>
              </a:rPr>
              <a:t>Sprint 3 — remaining effort (hours)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 remaining</c:v>
                </c:pt>
              </c:strCache>
            </c:strRef>
          </c:tx>
          <c:spPr>
            <a:solidFill>
              <a:srgbClr val="9FB6C4"/>
            </a:solidFill>
            <a:ln w="38100" cap="flat">
              <a:solidFill>
                <a:srgbClr val="9FB6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FB6C4"/>
              </a:solidFill>
              <a:ln w="9525" cap="flat">
                <a:solidFill>
                  <a:srgbClr val="9FB6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124</c:v>
                </c:pt>
                <c:pt idx="1">
                  <c:v>111.6</c:v>
                </c:pt>
                <c:pt idx="2">
                  <c:v>99.2</c:v>
                </c:pt>
                <c:pt idx="3">
                  <c:v>86.8</c:v>
                </c:pt>
                <c:pt idx="4">
                  <c:v>74.4</c:v>
                </c:pt>
                <c:pt idx="5">
                  <c:v>62</c:v>
                </c:pt>
                <c:pt idx="6">
                  <c:v>49.6</c:v>
                </c:pt>
                <c:pt idx="7">
                  <c:v>37.2</c:v>
                </c:pt>
                <c:pt idx="8">
                  <c:v>24.8</c:v>
                </c:pt>
                <c:pt idx="9">
                  <c:v>12.4</c:v>
                </c:pt>
                <c:pt idx="1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remaining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124</c:v>
                </c:pt>
                <c:pt idx="1">
                  <c:v>118</c:v>
                </c:pt>
                <c:pt idx="2">
                  <c:v>108</c:v>
                </c:pt>
                <c:pt idx="3">
                  <c:v>94</c:v>
                </c:pt>
                <c:pt idx="4">
                  <c:v>78</c:v>
                </c:pt>
                <c:pt idx="5">
                  <c:v>66</c:v>
                </c:pt>
                <c:pt idx="6">
                  <c:v>58</c:v>
                </c:pt>
                <c:pt idx="7">
                  <c:v>44</c:v>
                </c:pt>
                <c:pt idx="8">
                  <c:v>28</c:v>
                </c:pt>
                <c:pt idx="9">
                  <c:v>14</c:v>
                </c:pt>
                <c:pt idx="1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Sprint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1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E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Remaining effort (h)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1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2283A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2283A"/>
                </a:solidFill>
                <a:latin typeface="Calibri"/>
              </a:rPr>
              <a:t>Defects by severity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3261E"/>
              </a:solidFill>
              <a:effectLst/>
            </c:spPr>
          </c:dPt>
          <c:dPt>
            <c:idx val="1"/>
            <c:bubble3D val="0"/>
            <c:spPr>
              <a:solidFill>
                <a:srgbClr val="C7761F"/>
              </a:solidFill>
              <a:effectLst/>
            </c:spPr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bubble3D val="0"/>
            <c:spPr>
              <a:solidFill>
                <a:srgbClr val="9FC7D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</c:v>
                </c:pt>
                <c:pt idx="1">
                  <c:v>7</c:v>
                </c:pt>
                <c:pt idx="2">
                  <c:v>16</c:v>
                </c:pt>
                <c:pt idx="3">
                  <c:v>13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scope: a working HMS covering public browsing, patient self-service, appointment booking with collision prevention, card payment with receipts, and an admin console. Three two-week sprints, 40 tasks, 338 estimated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project in the observed problem, not in technology. Every objective on the next slide traces back to one of these six pain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objectives, each traceable to a pain point. The first two are the acceptance criteria the whole build was judged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Stateless API — no server session. The browser holds the JWT; every request re-authenticates through the filter. The database is the last line of defence for overlap, not the only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no-CSS-framework constraint was a client requirement, not an oversight — the theme is one 415-line stylesheet driven by CSS custom properties.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features, but the two that define the project are collision validation and the payment/refund trail — everything else is standard CRUD.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Full-size versions of these and eleven more flowcharts ship in artifacts/flowcharts and in the flowchart pack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Estimates held within 4%. The over-run sits mostly in Sprint 2, where the collision concurrency test took longer than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source: SprintBacklog.xlsx, extracted into BurnDownChart.xlsx. Sprint 1 and 2 charts are in the same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NFR-01 carries a known exception: password hashing sits behind a config flag and is currently set to plain text at the client's request. It is listed on the challenges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security defect is worth calling out in the demo: receipts were readable by ID until the endpoint started checking ownership.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concurrency finding — it is the most transferable lesson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two open defects and the roadmap — it shows the team knows what is unfinished.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the artefact folder and offer to walk through any flowchart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669280" cy="5669280"/>
          </a:xfrm>
          <a:prstGeom prst="ellipse">
            <a:avLst/>
          </a:prstGeom>
          <a:solidFill>
            <a:srgbClr val="065A82">
              <a:alpha val="55000"/>
            </a:srgbClr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Care Hospital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appointment, collision-validation and billing platform built on Spring Boot and Angular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526280"/>
            <a:ext cx="1188720" cy="36576"/>
          </a:xfrm>
          <a:prstGeom prst="rect">
            <a:avLst/>
          </a:prstGeom>
          <a:solidFill>
            <a:srgbClr val="8FC4D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754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spc="150" kern="0" dirty="0">
                <a:solidFill>
                  <a:srgbClr val="8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— Tech Lead / Architecture    ·    Rahul, Sneha — Backend (Spring Boot, JPA, Security)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Aditya, Priya — Frontend (Angular 17)    ·    Faiz — Quality Assurance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1–3  ·  01 Jun 2026 – 10 Jul 2026  ·  Final project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/ 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 desk is the bottleneck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Care runs a 60-bed multi-speciality OPD in South Mumbai. Appointments are taken over the phone and written into a paper register at the front desk.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395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23774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" y="2852928"/>
            <a:ext cx="30083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receptionists on two phones book the same consultant into the same 11:00 slot. The clash surfaces only when both patients arrive.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15968" y="219456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17136" y="2395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17136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clashes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2852928"/>
            <a:ext cx="30083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rooms are assigned from memory, so a procedure and a consultation land in the same room.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92440" y="219456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93608" y="239572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3608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05672" y="23774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status visibility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8472" y="2852928"/>
            <a:ext cx="30083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phone back repeatedly to ask whether their request was confirmed. Nothing is written down for them.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417880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61872" y="4160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Cash-only billing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4672" y="4636008"/>
            <a:ext cx="30083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are collected at the counter with a handwritten slip. Reconciliation at month end takes two days.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15968" y="39776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17136" y="417880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7136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0" y="4160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refund trail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0" y="4636008"/>
            <a:ext cx="30083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are settled informally, with nothing recorded against the appointment.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92440" y="39776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93608" y="417880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9360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05672" y="41605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usable records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48472" y="4636008"/>
            <a:ext cx="30083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patient's history means paging through the register by date.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source: front-desk observation over one week — 11 double bookings, 4 room clashes, 27 status call-backs.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Care Hospital Management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had to achieve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81328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1664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every double booking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139696"/>
            <a:ext cx="48828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any request that overlaps an existing PENDING or APPROVED appointment for the same doctor — enforced in the service layer and again by a database constraint.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481328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1682496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76872" y="1664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room conflicts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9672" y="2139696"/>
            <a:ext cx="48828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same overlap rule to rooms, and re-check it when the front desk reassigns a room at approval 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163824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31455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patients live status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4672" y="3621024"/>
            <a:ext cx="48828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APPROVED / REJECTED visible on the patient's own dashboard, with the admin's remarks attached.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2962656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4808" y="3163824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64808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76872" y="31455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payment and issue a receipt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19672" y="3621024"/>
            <a:ext cx="48828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capture with a printable receipt; store only the last four digits, the holder name and a transaction reference.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443984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464515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61872" y="46268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refund trail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4672" y="5102352"/>
            <a:ext cx="48828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a paid appointment initiates the refund and writes the explanation into the remarks automatically.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4443984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64808" y="464515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64808" y="4645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76872" y="46268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desk one console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519672" y="5102352"/>
            <a:ext cx="48828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queue plus CRUD, search and bulk actions for doctors, departments, rooms, patients and appointments.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Care Hospital Management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one contract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3291840" cy="3794760"/>
          </a:xfrm>
          <a:prstGeom prst="roundRect">
            <a:avLst>
              <a:gd name="adj" fmla="val 2500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329184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916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— Angular 17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components, signals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 (auth / admin)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token interceptor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service for every outcome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CSS theme, no framework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stylesheet for receipts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291840" cy="3794760"/>
          </a:xfrm>
          <a:prstGeom prst="roundRect">
            <a:avLst>
              <a:gd name="adj" fmla="val 2500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691640"/>
            <a:ext cx="3291840" cy="4754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6916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Spring Boot 3.3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440" y="23317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 + DTO records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AppointmentService (collision)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 abstraction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filter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Validator on every DTO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@RestControllerAdvice handler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291840" cy="3794760"/>
          </a:xfrm>
          <a:prstGeom prst="roundRect">
            <a:avLst>
              <a:gd name="adj" fmla="val 2500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91640"/>
            <a:ext cx="3291840" cy="47548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6916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PostgreSQL / MySQL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549640" y="23317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repositories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tables, FK-constrained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indexes on appointments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USING gist guards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 on formats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 for first-run data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69080" y="3291840"/>
            <a:ext cx="365760" cy="54864"/>
          </a:xfrm>
          <a:prstGeom prst="rect">
            <a:avLst/>
          </a:prstGeom>
          <a:solidFill>
            <a:srgbClr val="5A718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0" y="3291840"/>
            <a:ext cx="365760" cy="54864"/>
          </a:xfrm>
          <a:prstGeom prst="rect">
            <a:avLst/>
          </a:prstGeom>
          <a:solidFill>
            <a:srgbClr val="5A7180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5623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over HTTPS  ·  Bearer JWT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0" y="5623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  ·  transactional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Care Hospital Management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VERSIONS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97480" y="1554480"/>
            <a:ext cx="8732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· Spring Boot 3.3.4 · Spring Data JPA · Spring Security · Hibernate Validator · jjwt 0.12 · Lombok · Maven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87168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97480" y="2487168"/>
            <a:ext cx="8732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17.3 standalone components · TypeScript 5.4 · RxJS 7.8 · signals · plain HTML forms and tables · hand-written CSS (no Bootstrap, Tailwind or Material)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19856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97480" y="3419856"/>
            <a:ext cx="8732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primary (btree_gist EXCLUDE constraints) · MySQL 8 supported · schema.sql plus JPA ddl-auto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5254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352544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697480" y="4352544"/>
            <a:ext cx="8732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BCrypt-capable encoder behind a config flag · stateless JWT · role-based URL rules · CORS locked to the SPA origin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285232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85232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QA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97480" y="5285232"/>
            <a:ext cx="8732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Maven wrapper · npm · Postman collection · manual regression pack · LibreOffice for receipt print checks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Care Hospital Management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54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737360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browsing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212848"/>
            <a:ext cx="20939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specialities, experience and departments visible without logging in; search and department filter.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737360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self-service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39312" y="2212848"/>
            <a:ext cx="20939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edit profile, book, cancel, pay and print receipts from one dashboard.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737360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validation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3952" y="2212848"/>
            <a:ext cx="20939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and room overlap rejected with 409 at booking and again at approval.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1554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8592" y="1737360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picker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08592" y="2212848"/>
            <a:ext cx="20939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generated from each doctor's hours and slot length; booked and past slots marked.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840480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4672" y="4315968"/>
            <a:ext cx="20939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queue with inline approve / reject; rejection remarks are mandatory.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36576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9312" y="3840480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+ receipt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39312" y="4315968"/>
            <a:ext cx="20939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Luhn-checked capture, masked number, printable receipt, automatic refund on cancellation.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6576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840480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73952" y="4315968"/>
            <a:ext cx="20939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search by ID / date / speciality, multi-select bulk delete across six tabs.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52560" y="365760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08592" y="3840480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status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08592" y="4315968"/>
            <a:ext cx="20939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marked admitted or discharged, with auto-discharge once the last visit ends.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Care Hospital Management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flow — booking to receipt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hospital-management-system/artifacts/flowcharts/14_appointment_book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2651760" cy="4754880"/>
          </a:xfrm>
          <a:prstGeom prst="rect">
            <a:avLst/>
          </a:prstGeom>
        </p:spPr>
      </p:pic>
      <p:pic>
        <p:nvPicPr>
          <p:cNvPr id="7" name="Image 1" descr="/home/claude/hospital-management-system/artifacts/flowcharts/16_collision_valid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0" y="1463040"/>
            <a:ext cx="2651760" cy="4754880"/>
          </a:xfrm>
          <a:prstGeom prst="rect">
            <a:avLst/>
          </a:prstGeom>
        </p:spPr>
      </p:pic>
      <p:pic>
        <p:nvPicPr>
          <p:cNvPr id="8" name="Image 2" descr="/home/claude/hospital-management-system/artifacts/flowcharts/17_request_queu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09360" y="1463040"/>
            <a:ext cx="2651760" cy="4754880"/>
          </a:xfrm>
          <a:prstGeom prst="rect">
            <a:avLst/>
          </a:prstGeom>
        </p:spPr>
      </p:pic>
      <p:pic>
        <p:nvPicPr>
          <p:cNvPr id="9" name="Image 3" descr="/home/claude/hospital-management-system/artifacts/flowcharts/18_payment_receip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44000" y="1463040"/>
            <a:ext cx="2651760" cy="47548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0080" y="6172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3474720" y="6172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check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6309360" y="6172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queue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9144000" y="6172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receipt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TWO-WEEK SPRINTS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548640" y="1554480"/>
          <a:ext cx="6583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360920" y="1554480"/>
            <a:ext cx="4251960" cy="1280160"/>
          </a:xfrm>
          <a:prstGeom prst="roundRect">
            <a:avLst>
              <a:gd name="adj" fmla="val 5714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6642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— Foundation &amp; authentication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589520" y="1956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tasks · 100 h est · 103 h actual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89520" y="22128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JPA entities, JWT security, registration, public browsing, seed data.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60920" y="2971800"/>
            <a:ext cx="4251960" cy="1280160"/>
          </a:xfrm>
          <a:prstGeom prst="roundRect">
            <a:avLst>
              <a:gd name="adj" fmla="val 5714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3081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— Booking, collision &amp; payment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89520" y="3374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tasks · 114 h est · 121 h actual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589520" y="36301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generation, collision service, booking flow, card payment, receipt, refund.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60920" y="4389120"/>
            <a:ext cx="4251960" cy="1280160"/>
          </a:xfrm>
          <a:prstGeom prst="roundRect">
            <a:avLst>
              <a:gd name="adj" fmla="val 5714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0" y="4498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Admin console, search &amp; UI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589520" y="4791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tasks · 124 h est · 127 h actual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589520" y="50474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queue, CRUD, search, bulk delete, ward status, CSS theme, artefacts.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tasks · 338 h estimated · 351 h actual · +3.8% variance · all tasks Done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Care Hospital Management System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PROGRESS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Burndown — ideal vs actual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548640" y="1554480"/>
          <a:ext cx="7406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183880" y="15544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9912" y="173736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39912" y="2212848"/>
            <a:ext cx="2916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dashed = ideal burn at 12.4 h/day. Solid blue = effort actually closed, taken from the daily stand-up.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83880" y="306324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39912" y="324612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1–2 lag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39912" y="3721608"/>
            <a:ext cx="2916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CRUD scaffolding produced nothing closable until day 3, so the line starts above ideal.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83880" y="4572000"/>
            <a:ext cx="3429000" cy="1188720"/>
          </a:xfrm>
          <a:prstGeom prst="roundRect">
            <a:avLst>
              <a:gd name="adj" fmla="val 6923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39912" y="4754880"/>
            <a:ext cx="2916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439912" y="5230368"/>
            <a:ext cx="2916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form and table patterns let days 7–10 close 60 h and finish the sprint on zero.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Care Hospital Management System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18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1618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JWT, role-based URL rules, CORS pinned to the SPA origin, card PAN and CVV never persisted.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6184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1618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64808" y="192024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constraints, CHECK constraints on mobile and card format, EXCLUDE USING gist against overlapping appointments.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679192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788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9808" y="309067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ends in a success or error popup carrying the exact rule that failed; mandatory fields marked.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679192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2788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0" y="2788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64808" y="309067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CSS framework, no web fonts, no build-time asset pipeline; one stylesheet with CSS custom properties.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49624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9593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3959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9808" y="426110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focus rings, labelled inputs, aria-labels on checkbox columns, prefers-reduced-motion respected.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849624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39593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3959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Printability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64808" y="426110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print stylesheet — header, nav, footer and dialogs hidden so only the receipt prints.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020056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1297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00200" y="5129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49808" y="543153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Single-column layout and horizontally scrollable tables below 760 px.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020056"/>
            <a:ext cx="5394960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51297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0" y="5129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64808" y="543153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 declared once per side and shared (ValidationPatterns.java, validators.ts).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Care Hospital Management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and defects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executed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9184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raised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03504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closed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778240" y="15544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94.7%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778240" y="23957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rate</a:t>
            </a:r>
            <a:endParaRPr lang="en-US" sz="11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310896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5943600" y="310896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3200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type — representative defects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172200" y="3584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98080" y="3584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01000" y="35844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boundary off-by-one; approval ignored reassigned room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4133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98080" y="4133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01000" y="41330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crowding at 768 px; receipt font changed on tap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172200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9808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001000" y="46817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could request another patient's receipt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5230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498080" y="5230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001000" y="52303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list re-queried appointments per row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172200" y="5532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open defects, both Low: navbar wrap at 320 px and a receipt print margin in Firefox.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Care Hospital Management System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learning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8132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1907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bookings slipped past the service check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80160" y="1865376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simultaneous requests both passed the overlap query before either committed. Learning: a service-layer check is necessary but not sufficient — the EXCLUDE constraint in PostgreSQL is what actually makes it safe.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6791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5146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password storage was requested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80160" y="2825496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asked for readable passwords. Learning: implement it behind a config flag rather than deleting the hashing path, and document the risk in the README so the decision stays visible and reversible.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63931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4747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browsers restyled the receipt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80160" y="3785616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a phone number changed its font because iOS auto-linked it. Learning: format-detection meta plus explicit font inheritance; test print artefacts on a real handset.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36168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FFFFF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5994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599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443484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CSS framework, by requirement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80160" y="4745736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tables, tabs, dialogs and print styles by hand. Learning: CSS custom properties gave one-line retheming, and the stylesheet stayed at ~400 lines.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32180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55595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559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53949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drifted between layers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80160" y="5705856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server disagreed on the mobile rule. Learning: declare each rule once per side, side by side, and review them as a pair.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Care Hospital Management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DEMO SNAPSHOTS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walkthrough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43584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CBDC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91640"/>
            <a:ext cx="2240280" cy="1417320"/>
          </a:xfrm>
          <a:prstGeom prst="rect">
            <a:avLst/>
          </a:prstGeom>
          <a:solidFill>
            <a:srgbClr val="F2F7FA"/>
          </a:solidFill>
          <a:ln w="12700">
            <a:solidFill>
              <a:srgbClr val="CBDCE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70432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book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67588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→ filter by department → Book → slot picker → request submitted as PENDING.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5087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CBD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691640"/>
            <a:ext cx="2240280" cy="1417320"/>
          </a:xfrm>
          <a:prstGeom prst="rect">
            <a:avLst/>
          </a:prstGeom>
          <a:solidFill>
            <a:srgbClr val="F2F7FA"/>
          </a:solidFill>
          <a:ln w="12700">
            <a:solidFill>
              <a:srgbClr val="CBDCE6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566160" y="16916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324612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05072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proof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67588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same doctor and slot from a second account → 409 with a plain-English message.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5087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CBDC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691640"/>
            <a:ext cx="2240280" cy="1417320"/>
          </a:xfrm>
          <a:prstGeom prst="rect">
            <a:avLst/>
          </a:prstGeom>
          <a:solidFill>
            <a:srgbClr val="F2F7FA"/>
          </a:solidFill>
          <a:ln w="12700">
            <a:solidFill>
              <a:srgbClr val="CBDCE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400800" y="16916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324612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39712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assign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67588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queue → assign room C-102 → Approve → patient's dashboard flips to APPROVED.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52560" y="15087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CBDC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35440" y="1691640"/>
            <a:ext cx="2240280" cy="1417320"/>
          </a:xfrm>
          <a:prstGeom prst="rect">
            <a:avLst/>
          </a:prstGeom>
          <a:solidFill>
            <a:srgbClr val="F2F7FA"/>
          </a:solidFill>
          <a:ln w="12700">
            <a:solidFill>
              <a:srgbClr val="CBDCE6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235440" y="169164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235440" y="3246120"/>
            <a:ext cx="347472" cy="3474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923544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74352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print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35440" y="367588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→ masked card → accept terms → receipt with last four digits → print preview.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937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dashed frames with live screenshots captured during the demo run (admin@hms.local / Admin@123 for the console).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F2F7FA"/>
          </a:solidFill>
          <a:ln w="12700">
            <a:solidFill>
              <a:srgbClr val="CBDC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5532120"/>
            <a:ext cx="10552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stands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04672" y="6007608"/>
            <a:ext cx="1055217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17 user stories delivered and accepted across three sprints. Two low-severity defects remain open. Next: doctor self-service portal, email and SMS notifications, and a real payment gateway behind the existing PaymentService interface.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Care Hospital Management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556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377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live 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hospital-management-system.zip  ·  Artefacts: sprint backlog, burndown, user manual, 25-chart flowchart pack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</dc:title>
  <dc:subject>PptxGenJS Presentation</dc:subject>
  <dc:creator>City Care HMS project team</dc:creator>
  <cp:lastModifiedBy>City Care HMS project team</cp:lastModifiedBy>
  <cp:revision>1</cp:revision>
  <dcterms:created xsi:type="dcterms:W3CDTF">2026-08-23T08:33:34Z</dcterms:created>
  <dcterms:modified xsi:type="dcterms:W3CDTF">2026-08-23T08:33:34Z</dcterms:modified>
</cp:coreProperties>
</file>